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9" r:id="rId4"/>
    <p:sldId id="261" r:id="rId5"/>
    <p:sldId id="262" r:id="rId6"/>
    <p:sldId id="263" r:id="rId7"/>
    <p:sldId id="268" r:id="rId8"/>
    <p:sldId id="264" r:id="rId9"/>
    <p:sldId id="271" r:id="rId10"/>
    <p:sldId id="265" r:id="rId11"/>
    <p:sldId id="272" r:id="rId12"/>
    <p:sldId id="270" r:id="rId13"/>
    <p:sldId id="266" r:id="rId14"/>
    <p:sldId id="267" r:id="rId15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8" autoAdjust="0"/>
    <p:restoredTop sz="86667" autoAdjust="0"/>
  </p:normalViewPr>
  <p:slideViewPr>
    <p:cSldViewPr>
      <p:cViewPr>
        <p:scale>
          <a:sx n="107" d="100"/>
          <a:sy n="107" d="100"/>
        </p:scale>
        <p:origin x="-882" y="-6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2558A9-0F22-45FD-AB44-B0A71BE23FC0}" type="doc">
      <dgm:prSet loTypeId="urn:microsoft.com/office/officeart/2005/8/layout/vList6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5D2AAA67-857E-42E2-BE94-63F27E117FAD}">
      <dgm:prSet phldrT="[Texte]"/>
      <dgm:spPr/>
      <dgm:t>
        <a:bodyPr/>
        <a:lstStyle/>
        <a:p>
          <a:r>
            <a:rPr lang="fr-FR" dirty="0" smtClean="0"/>
            <a:t>Etude de besoin</a:t>
          </a:r>
          <a:endParaRPr lang="fr-FR" dirty="0"/>
        </a:p>
      </dgm:t>
    </dgm:pt>
    <dgm:pt modelId="{A4CC1AC7-FC64-4335-AD56-063F183295EC}" type="parTrans" cxnId="{B41C4FDE-8911-436C-9886-6AD6F1E0D00A}">
      <dgm:prSet/>
      <dgm:spPr/>
      <dgm:t>
        <a:bodyPr/>
        <a:lstStyle/>
        <a:p>
          <a:endParaRPr lang="fr-FR"/>
        </a:p>
      </dgm:t>
    </dgm:pt>
    <dgm:pt modelId="{27E50984-3462-4417-8C83-847BFDA1F1D4}" type="sibTrans" cxnId="{B41C4FDE-8911-436C-9886-6AD6F1E0D00A}">
      <dgm:prSet/>
      <dgm:spPr/>
      <dgm:t>
        <a:bodyPr/>
        <a:lstStyle/>
        <a:p>
          <a:endParaRPr lang="fr-FR"/>
        </a:p>
      </dgm:t>
    </dgm:pt>
    <dgm:pt modelId="{25CF9A92-B93F-4D4D-9875-9B7315F6C20A}">
      <dgm:prSet phldrT="[Texte]"/>
      <dgm:spPr/>
      <dgm:t>
        <a:bodyPr/>
        <a:lstStyle/>
        <a:p>
          <a:r>
            <a:rPr lang="fr-FR" dirty="0" smtClean="0"/>
            <a:t>But et destinataires</a:t>
          </a:r>
          <a:endParaRPr lang="fr-FR" dirty="0"/>
        </a:p>
      </dgm:t>
    </dgm:pt>
    <dgm:pt modelId="{F1D07C56-1AAD-43C6-9541-D7C10CE8C61D}" type="parTrans" cxnId="{18245A68-0FBD-4CE0-AEA5-438F6B739C40}">
      <dgm:prSet/>
      <dgm:spPr/>
      <dgm:t>
        <a:bodyPr/>
        <a:lstStyle/>
        <a:p>
          <a:endParaRPr lang="fr-FR"/>
        </a:p>
      </dgm:t>
    </dgm:pt>
    <dgm:pt modelId="{E80B115D-853C-4C23-A39E-0DCCADFC197D}" type="sibTrans" cxnId="{18245A68-0FBD-4CE0-AEA5-438F6B739C40}">
      <dgm:prSet/>
      <dgm:spPr/>
      <dgm:t>
        <a:bodyPr/>
        <a:lstStyle/>
        <a:p>
          <a:endParaRPr lang="fr-FR"/>
        </a:p>
      </dgm:t>
    </dgm:pt>
    <dgm:pt modelId="{7D5C30B4-1C40-4C0D-8D5F-9462D8FEA5D5}">
      <dgm:prSet phldrT="[Texte]"/>
      <dgm:spPr/>
      <dgm:t>
        <a:bodyPr/>
        <a:lstStyle/>
        <a:p>
          <a:r>
            <a:rPr lang="fr-FR" dirty="0" smtClean="0"/>
            <a:t>Fonctionnalités utilisateurs finaux</a:t>
          </a:r>
          <a:endParaRPr lang="fr-FR" dirty="0"/>
        </a:p>
      </dgm:t>
    </dgm:pt>
    <dgm:pt modelId="{E0ACC9F4-8D77-48E4-AD7E-8882A5543FBD}" type="parTrans" cxnId="{C1D13094-1E2C-42A4-B45E-069B490A1B44}">
      <dgm:prSet/>
      <dgm:spPr/>
      <dgm:t>
        <a:bodyPr/>
        <a:lstStyle/>
        <a:p>
          <a:endParaRPr lang="fr-FR"/>
        </a:p>
      </dgm:t>
    </dgm:pt>
    <dgm:pt modelId="{75DB55E7-E516-4688-B19B-4CD6CD40135E}" type="sibTrans" cxnId="{C1D13094-1E2C-42A4-B45E-069B490A1B44}">
      <dgm:prSet/>
      <dgm:spPr/>
      <dgm:t>
        <a:bodyPr/>
        <a:lstStyle/>
        <a:p>
          <a:endParaRPr lang="fr-FR"/>
        </a:p>
      </dgm:t>
    </dgm:pt>
    <dgm:pt modelId="{E5B20784-51E4-40AC-8DC3-E63163796DF1}">
      <dgm:prSet phldrT="[Texte]"/>
      <dgm:spPr/>
      <dgm:t>
        <a:bodyPr/>
        <a:lstStyle/>
        <a:p>
          <a:r>
            <a:rPr lang="fr-FR" dirty="0" smtClean="0"/>
            <a:t>Etude technique</a:t>
          </a:r>
          <a:endParaRPr lang="fr-FR" dirty="0"/>
        </a:p>
      </dgm:t>
    </dgm:pt>
    <dgm:pt modelId="{E51D3444-7735-4E0C-895C-A416CE6F2FC9}" type="parTrans" cxnId="{6C78B411-E562-4915-ACA6-B3732F1E47E9}">
      <dgm:prSet/>
      <dgm:spPr/>
      <dgm:t>
        <a:bodyPr/>
        <a:lstStyle/>
        <a:p>
          <a:endParaRPr lang="fr-FR"/>
        </a:p>
      </dgm:t>
    </dgm:pt>
    <dgm:pt modelId="{333F8233-079F-4134-BF9C-491F5C167C54}" type="sibTrans" cxnId="{6C78B411-E562-4915-ACA6-B3732F1E47E9}">
      <dgm:prSet/>
      <dgm:spPr/>
      <dgm:t>
        <a:bodyPr/>
        <a:lstStyle/>
        <a:p>
          <a:endParaRPr lang="fr-FR"/>
        </a:p>
      </dgm:t>
    </dgm:pt>
    <dgm:pt modelId="{8378D4D7-2F56-44AF-96B0-DCD50563147F}">
      <dgm:prSet phldrT="[Texte]"/>
      <dgm:spPr/>
      <dgm:t>
        <a:bodyPr/>
        <a:lstStyle/>
        <a:p>
          <a:r>
            <a:rPr lang="fr-FR" dirty="0" smtClean="0"/>
            <a:t>Environnement de réalisation</a:t>
          </a:r>
          <a:endParaRPr lang="fr-FR" dirty="0"/>
        </a:p>
      </dgm:t>
    </dgm:pt>
    <dgm:pt modelId="{DDDB0CCF-A386-4791-A1C4-C122ED9465B8}" type="parTrans" cxnId="{22157A5E-E067-42F2-85FE-A49F9EF26F79}">
      <dgm:prSet/>
      <dgm:spPr/>
      <dgm:t>
        <a:bodyPr/>
        <a:lstStyle/>
        <a:p>
          <a:endParaRPr lang="fr-FR"/>
        </a:p>
      </dgm:t>
    </dgm:pt>
    <dgm:pt modelId="{9BCFBAEF-AC5D-40C1-8062-B77706787202}" type="sibTrans" cxnId="{22157A5E-E067-42F2-85FE-A49F9EF26F79}">
      <dgm:prSet/>
      <dgm:spPr/>
      <dgm:t>
        <a:bodyPr/>
        <a:lstStyle/>
        <a:p>
          <a:endParaRPr lang="fr-FR"/>
        </a:p>
      </dgm:t>
    </dgm:pt>
    <dgm:pt modelId="{EBD49E12-2531-4CAE-BB90-6CB758C3E97D}">
      <dgm:prSet phldrT="[Texte]"/>
      <dgm:spPr/>
      <dgm:t>
        <a:bodyPr/>
        <a:lstStyle/>
        <a:p>
          <a:r>
            <a:rPr lang="fr-FR" dirty="0" smtClean="0"/>
            <a:t>Description des tests</a:t>
          </a:r>
          <a:endParaRPr lang="fr-FR" dirty="0"/>
        </a:p>
      </dgm:t>
    </dgm:pt>
    <dgm:pt modelId="{00B8D9AB-EC5B-4D88-86B2-CCB19AC4F90E}" type="parTrans" cxnId="{B2A841E6-68F0-47A7-8E3E-0ED6A14A2433}">
      <dgm:prSet/>
      <dgm:spPr/>
      <dgm:t>
        <a:bodyPr/>
        <a:lstStyle/>
        <a:p>
          <a:endParaRPr lang="fr-FR"/>
        </a:p>
      </dgm:t>
    </dgm:pt>
    <dgm:pt modelId="{5C855C80-AF10-456F-8554-67FA81044DBF}" type="sibTrans" cxnId="{B2A841E6-68F0-47A7-8E3E-0ED6A14A2433}">
      <dgm:prSet/>
      <dgm:spPr/>
      <dgm:t>
        <a:bodyPr/>
        <a:lstStyle/>
        <a:p>
          <a:endParaRPr lang="fr-FR"/>
        </a:p>
      </dgm:t>
    </dgm:pt>
    <dgm:pt modelId="{B047D59F-671A-40C4-B62B-50C77A49F1BE}">
      <dgm:prSet phldrT="[Texte]"/>
      <dgm:spPr/>
      <dgm:t>
        <a:bodyPr/>
        <a:lstStyle/>
        <a:p>
          <a:r>
            <a:rPr lang="en-US" dirty="0" err="1" smtClean="0"/>
            <a:t>Méthodologie</a:t>
          </a:r>
          <a:r>
            <a:rPr lang="en-US" dirty="0" smtClean="0"/>
            <a:t> </a:t>
          </a:r>
          <a:r>
            <a:rPr lang="en-US" dirty="0" err="1" smtClean="0"/>
            <a:t>Projet</a:t>
          </a:r>
          <a:endParaRPr lang="fr-FR" dirty="0"/>
        </a:p>
      </dgm:t>
    </dgm:pt>
    <dgm:pt modelId="{7F1CA3B7-6F70-49D7-9D63-2290E7C662C4}" type="parTrans" cxnId="{BAD6B631-6FFE-4ABA-9C9B-B7F945FABB73}">
      <dgm:prSet/>
      <dgm:spPr/>
      <dgm:t>
        <a:bodyPr/>
        <a:lstStyle/>
        <a:p>
          <a:endParaRPr lang="fr-FR"/>
        </a:p>
      </dgm:t>
    </dgm:pt>
    <dgm:pt modelId="{B178416B-0805-48DE-838F-4BDB1A9BA87B}" type="sibTrans" cxnId="{BAD6B631-6FFE-4ABA-9C9B-B7F945FABB73}">
      <dgm:prSet/>
      <dgm:spPr/>
      <dgm:t>
        <a:bodyPr/>
        <a:lstStyle/>
        <a:p>
          <a:endParaRPr lang="fr-FR"/>
        </a:p>
      </dgm:t>
    </dgm:pt>
    <dgm:pt modelId="{A7AC0AA0-B17A-4937-90F0-2F3AEDA0738B}">
      <dgm:prSet phldrT="[Texte]"/>
      <dgm:spPr/>
      <dgm:t>
        <a:bodyPr/>
        <a:lstStyle/>
        <a:p>
          <a:r>
            <a:rPr lang="en-US" dirty="0" err="1" smtClean="0"/>
            <a:t>Equipe</a:t>
          </a:r>
          <a:endParaRPr lang="fr-FR" dirty="0"/>
        </a:p>
      </dgm:t>
    </dgm:pt>
    <dgm:pt modelId="{0D244E31-8574-4807-9AE5-9397F71EFA97}" type="parTrans" cxnId="{14708350-E2EA-4E73-BD1A-82CCB143BAB5}">
      <dgm:prSet/>
      <dgm:spPr/>
      <dgm:t>
        <a:bodyPr/>
        <a:lstStyle/>
        <a:p>
          <a:endParaRPr lang="fr-FR"/>
        </a:p>
      </dgm:t>
    </dgm:pt>
    <dgm:pt modelId="{9F9CF4E4-EFB2-4DC8-99B9-C697A928ECDA}" type="sibTrans" cxnId="{14708350-E2EA-4E73-BD1A-82CCB143BAB5}">
      <dgm:prSet/>
      <dgm:spPr/>
      <dgm:t>
        <a:bodyPr/>
        <a:lstStyle/>
        <a:p>
          <a:endParaRPr lang="fr-FR"/>
        </a:p>
      </dgm:t>
    </dgm:pt>
    <dgm:pt modelId="{707A2861-C5BA-4F63-82E7-015A34243BD1}">
      <dgm:prSet phldrT="[Texte]"/>
      <dgm:spPr/>
      <dgm:t>
        <a:bodyPr/>
        <a:lstStyle/>
        <a:p>
          <a:r>
            <a:rPr lang="en-US" dirty="0" err="1" smtClean="0"/>
            <a:t>Organisation</a:t>
          </a:r>
          <a:endParaRPr lang="fr-FR" dirty="0"/>
        </a:p>
      </dgm:t>
    </dgm:pt>
    <dgm:pt modelId="{903E4718-60D4-4736-973F-78224AFE30AF}" type="parTrans" cxnId="{9669F837-B742-484D-9242-CFF8B18D4697}">
      <dgm:prSet/>
      <dgm:spPr/>
      <dgm:t>
        <a:bodyPr/>
        <a:lstStyle/>
        <a:p>
          <a:endParaRPr lang="fr-FR"/>
        </a:p>
      </dgm:t>
    </dgm:pt>
    <dgm:pt modelId="{7A2B69CE-B6A8-47A7-BFE8-41B7EB59B5BF}" type="sibTrans" cxnId="{9669F837-B742-484D-9242-CFF8B18D4697}">
      <dgm:prSet/>
      <dgm:spPr/>
      <dgm:t>
        <a:bodyPr/>
        <a:lstStyle/>
        <a:p>
          <a:endParaRPr lang="fr-FR"/>
        </a:p>
      </dgm:t>
    </dgm:pt>
    <dgm:pt modelId="{2295EF8B-0469-4EDE-A1AB-942D709A3FF5}" type="pres">
      <dgm:prSet presAssocID="{5A2558A9-0F22-45FD-AB44-B0A71BE23FC0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FDB5DBC6-C577-4BE5-9D59-358BDD737E0F}" type="pres">
      <dgm:prSet presAssocID="{5D2AAA67-857E-42E2-BE94-63F27E117FAD}" presName="linNode" presStyleCnt="0"/>
      <dgm:spPr/>
      <dgm:t>
        <a:bodyPr/>
        <a:lstStyle/>
        <a:p>
          <a:endParaRPr lang="fr-FR"/>
        </a:p>
      </dgm:t>
    </dgm:pt>
    <dgm:pt modelId="{05F84856-DAAE-40C5-B174-C7D46924E499}" type="pres">
      <dgm:prSet presAssocID="{5D2AAA67-857E-42E2-BE94-63F27E117FAD}" presName="parent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535D582-1976-4FD7-A859-284CB48A2F58}" type="pres">
      <dgm:prSet presAssocID="{5D2AAA67-857E-42E2-BE94-63F27E117FAD}" presName="childShp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788268B-6B58-4B55-82FA-68EDD6923221}" type="pres">
      <dgm:prSet presAssocID="{27E50984-3462-4417-8C83-847BFDA1F1D4}" presName="spacing" presStyleCnt="0"/>
      <dgm:spPr/>
      <dgm:t>
        <a:bodyPr/>
        <a:lstStyle/>
        <a:p>
          <a:endParaRPr lang="fr-FR"/>
        </a:p>
      </dgm:t>
    </dgm:pt>
    <dgm:pt modelId="{086D09BC-1026-4B90-8727-223295DB2122}" type="pres">
      <dgm:prSet presAssocID="{E5B20784-51E4-40AC-8DC3-E63163796DF1}" presName="linNode" presStyleCnt="0"/>
      <dgm:spPr/>
      <dgm:t>
        <a:bodyPr/>
        <a:lstStyle/>
        <a:p>
          <a:endParaRPr lang="fr-FR"/>
        </a:p>
      </dgm:t>
    </dgm:pt>
    <dgm:pt modelId="{991C19E4-C290-406A-9A17-41EC5765719E}" type="pres">
      <dgm:prSet presAssocID="{E5B20784-51E4-40AC-8DC3-E63163796DF1}" presName="parent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498FF76-8B65-468B-827D-4493935C5A3E}" type="pres">
      <dgm:prSet presAssocID="{E5B20784-51E4-40AC-8DC3-E63163796DF1}" presName="childShp" presStyleLbl="bgAccFollowNode1" presStyleIdx="1" presStyleCnt="3" custLinFactNeighborX="-1634" custLinFactNeighborY="-388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715A426-E46A-44DB-9F8C-C2B1A4F7EFD0}" type="pres">
      <dgm:prSet presAssocID="{333F8233-079F-4134-BF9C-491F5C167C54}" presName="spacing" presStyleCnt="0"/>
      <dgm:spPr/>
      <dgm:t>
        <a:bodyPr/>
        <a:lstStyle/>
        <a:p>
          <a:endParaRPr lang="fr-FR"/>
        </a:p>
      </dgm:t>
    </dgm:pt>
    <dgm:pt modelId="{98F62D7D-C967-4EF0-A228-17FFAFAEFBEE}" type="pres">
      <dgm:prSet presAssocID="{B047D59F-671A-40C4-B62B-50C77A49F1BE}" presName="linNode" presStyleCnt="0"/>
      <dgm:spPr/>
      <dgm:t>
        <a:bodyPr/>
        <a:lstStyle/>
        <a:p>
          <a:endParaRPr lang="fr-FR"/>
        </a:p>
      </dgm:t>
    </dgm:pt>
    <dgm:pt modelId="{6CF1E50F-2467-4A7D-A877-548C4A3F71DB}" type="pres">
      <dgm:prSet presAssocID="{B047D59F-671A-40C4-B62B-50C77A49F1BE}" presName="parent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1F987A-C496-48FF-AB98-83626582AA3A}" type="pres">
      <dgm:prSet presAssocID="{B047D59F-671A-40C4-B62B-50C77A49F1BE}" presName="childShp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E59394D-8149-42C0-9826-BDCD0505F838}" type="presOf" srcId="{B047D59F-671A-40C4-B62B-50C77A49F1BE}" destId="{6CF1E50F-2467-4A7D-A877-548C4A3F71DB}" srcOrd="0" destOrd="0" presId="urn:microsoft.com/office/officeart/2005/8/layout/vList6"/>
    <dgm:cxn modelId="{7515027E-6DF2-446B-BBE2-6E29BAF52C79}" type="presOf" srcId="{5A2558A9-0F22-45FD-AB44-B0A71BE23FC0}" destId="{2295EF8B-0469-4EDE-A1AB-942D709A3FF5}" srcOrd="0" destOrd="0" presId="urn:microsoft.com/office/officeart/2005/8/layout/vList6"/>
    <dgm:cxn modelId="{6C78B411-E562-4915-ACA6-B3732F1E47E9}" srcId="{5A2558A9-0F22-45FD-AB44-B0A71BE23FC0}" destId="{E5B20784-51E4-40AC-8DC3-E63163796DF1}" srcOrd="1" destOrd="0" parTransId="{E51D3444-7735-4E0C-895C-A416CE6F2FC9}" sibTransId="{333F8233-079F-4134-BF9C-491F5C167C54}"/>
    <dgm:cxn modelId="{18245A68-0FBD-4CE0-AEA5-438F6B739C40}" srcId="{5D2AAA67-857E-42E2-BE94-63F27E117FAD}" destId="{25CF9A92-B93F-4D4D-9875-9B7315F6C20A}" srcOrd="0" destOrd="0" parTransId="{F1D07C56-1AAD-43C6-9541-D7C10CE8C61D}" sibTransId="{E80B115D-853C-4C23-A39E-0DCCADFC197D}"/>
    <dgm:cxn modelId="{16F15D5C-C5F2-47D9-8FB8-3EDF53CBE29D}" type="presOf" srcId="{707A2861-C5BA-4F63-82E7-015A34243BD1}" destId="{EA1F987A-C496-48FF-AB98-83626582AA3A}" srcOrd="0" destOrd="1" presId="urn:microsoft.com/office/officeart/2005/8/layout/vList6"/>
    <dgm:cxn modelId="{22157A5E-E067-42F2-85FE-A49F9EF26F79}" srcId="{E5B20784-51E4-40AC-8DC3-E63163796DF1}" destId="{8378D4D7-2F56-44AF-96B0-DCD50563147F}" srcOrd="0" destOrd="0" parTransId="{DDDB0CCF-A386-4791-A1C4-C122ED9465B8}" sibTransId="{9BCFBAEF-AC5D-40C1-8062-B77706787202}"/>
    <dgm:cxn modelId="{1FCE551F-69E5-1049-A565-B010F2DA351F}" type="presOf" srcId="{8378D4D7-2F56-44AF-96B0-DCD50563147F}" destId="{7498FF76-8B65-468B-827D-4493935C5A3E}" srcOrd="0" destOrd="0" presId="urn:microsoft.com/office/officeart/2005/8/layout/vList6"/>
    <dgm:cxn modelId="{A5276E98-6BDC-C745-9EDA-33D9D97F8BC8}" type="presOf" srcId="{5D2AAA67-857E-42E2-BE94-63F27E117FAD}" destId="{05F84856-DAAE-40C5-B174-C7D46924E499}" srcOrd="0" destOrd="0" presId="urn:microsoft.com/office/officeart/2005/8/layout/vList6"/>
    <dgm:cxn modelId="{14708350-E2EA-4E73-BD1A-82CCB143BAB5}" srcId="{B047D59F-671A-40C4-B62B-50C77A49F1BE}" destId="{A7AC0AA0-B17A-4937-90F0-2F3AEDA0738B}" srcOrd="0" destOrd="0" parTransId="{0D244E31-8574-4807-9AE5-9397F71EFA97}" sibTransId="{9F9CF4E4-EFB2-4DC8-99B9-C697A928ECDA}"/>
    <dgm:cxn modelId="{3F9B78E8-4BBA-C042-9AD8-8A01978AD7ED}" type="presOf" srcId="{7D5C30B4-1C40-4C0D-8D5F-9462D8FEA5D5}" destId="{4535D582-1976-4FD7-A859-284CB48A2F58}" srcOrd="0" destOrd="1" presId="urn:microsoft.com/office/officeart/2005/8/layout/vList6"/>
    <dgm:cxn modelId="{11C78AF1-2EAF-5544-B3DF-45588CF3794E}" type="presOf" srcId="{E5B20784-51E4-40AC-8DC3-E63163796DF1}" destId="{991C19E4-C290-406A-9A17-41EC5765719E}" srcOrd="0" destOrd="0" presId="urn:microsoft.com/office/officeart/2005/8/layout/vList6"/>
    <dgm:cxn modelId="{9669F837-B742-484D-9242-CFF8B18D4697}" srcId="{B047D59F-671A-40C4-B62B-50C77A49F1BE}" destId="{707A2861-C5BA-4F63-82E7-015A34243BD1}" srcOrd="1" destOrd="0" parTransId="{903E4718-60D4-4736-973F-78224AFE30AF}" sibTransId="{7A2B69CE-B6A8-47A7-BFE8-41B7EB59B5BF}"/>
    <dgm:cxn modelId="{B41C4FDE-8911-436C-9886-6AD6F1E0D00A}" srcId="{5A2558A9-0F22-45FD-AB44-B0A71BE23FC0}" destId="{5D2AAA67-857E-42E2-BE94-63F27E117FAD}" srcOrd="0" destOrd="0" parTransId="{A4CC1AC7-FC64-4335-AD56-063F183295EC}" sibTransId="{27E50984-3462-4417-8C83-847BFDA1F1D4}"/>
    <dgm:cxn modelId="{C5EB98C5-CF10-F240-BBE0-1FFFF3EFA550}" type="presOf" srcId="{EBD49E12-2531-4CAE-BB90-6CB758C3E97D}" destId="{7498FF76-8B65-468B-827D-4493935C5A3E}" srcOrd="0" destOrd="1" presId="urn:microsoft.com/office/officeart/2005/8/layout/vList6"/>
    <dgm:cxn modelId="{C1D13094-1E2C-42A4-B45E-069B490A1B44}" srcId="{5D2AAA67-857E-42E2-BE94-63F27E117FAD}" destId="{7D5C30B4-1C40-4C0D-8D5F-9462D8FEA5D5}" srcOrd="1" destOrd="0" parTransId="{E0ACC9F4-8D77-48E4-AD7E-8882A5543FBD}" sibTransId="{75DB55E7-E516-4688-B19B-4CD6CD40135E}"/>
    <dgm:cxn modelId="{B2A841E6-68F0-47A7-8E3E-0ED6A14A2433}" srcId="{E5B20784-51E4-40AC-8DC3-E63163796DF1}" destId="{EBD49E12-2531-4CAE-BB90-6CB758C3E97D}" srcOrd="1" destOrd="0" parTransId="{00B8D9AB-EC5B-4D88-86B2-CCB19AC4F90E}" sibTransId="{5C855C80-AF10-456F-8554-67FA81044DBF}"/>
    <dgm:cxn modelId="{1342B041-A1E1-446C-96E7-AA59E8D648D3}" type="presOf" srcId="{A7AC0AA0-B17A-4937-90F0-2F3AEDA0738B}" destId="{EA1F987A-C496-48FF-AB98-83626582AA3A}" srcOrd="0" destOrd="0" presId="urn:microsoft.com/office/officeart/2005/8/layout/vList6"/>
    <dgm:cxn modelId="{EFEF5D6D-163C-164D-AF7A-257DCA07F6AA}" type="presOf" srcId="{25CF9A92-B93F-4D4D-9875-9B7315F6C20A}" destId="{4535D582-1976-4FD7-A859-284CB48A2F58}" srcOrd="0" destOrd="0" presId="urn:microsoft.com/office/officeart/2005/8/layout/vList6"/>
    <dgm:cxn modelId="{BAD6B631-6FFE-4ABA-9C9B-B7F945FABB73}" srcId="{5A2558A9-0F22-45FD-AB44-B0A71BE23FC0}" destId="{B047D59F-671A-40C4-B62B-50C77A49F1BE}" srcOrd="2" destOrd="0" parTransId="{7F1CA3B7-6F70-49D7-9D63-2290E7C662C4}" sibTransId="{B178416B-0805-48DE-838F-4BDB1A9BA87B}"/>
    <dgm:cxn modelId="{9F4FDC5C-978A-ED4B-AC40-457D182598C3}" type="presParOf" srcId="{2295EF8B-0469-4EDE-A1AB-942D709A3FF5}" destId="{FDB5DBC6-C577-4BE5-9D59-358BDD737E0F}" srcOrd="0" destOrd="0" presId="urn:microsoft.com/office/officeart/2005/8/layout/vList6"/>
    <dgm:cxn modelId="{C21F3438-A1D4-BB4B-8556-172A0F239AD3}" type="presParOf" srcId="{FDB5DBC6-C577-4BE5-9D59-358BDD737E0F}" destId="{05F84856-DAAE-40C5-B174-C7D46924E499}" srcOrd="0" destOrd="0" presId="urn:microsoft.com/office/officeart/2005/8/layout/vList6"/>
    <dgm:cxn modelId="{E871CDD6-F25C-9F4C-95BA-E26BEE6CA057}" type="presParOf" srcId="{FDB5DBC6-C577-4BE5-9D59-358BDD737E0F}" destId="{4535D582-1976-4FD7-A859-284CB48A2F58}" srcOrd="1" destOrd="0" presId="urn:microsoft.com/office/officeart/2005/8/layout/vList6"/>
    <dgm:cxn modelId="{ECABF450-D568-F641-A309-B9C0A2008CCD}" type="presParOf" srcId="{2295EF8B-0469-4EDE-A1AB-942D709A3FF5}" destId="{1788268B-6B58-4B55-82FA-68EDD6923221}" srcOrd="1" destOrd="0" presId="urn:microsoft.com/office/officeart/2005/8/layout/vList6"/>
    <dgm:cxn modelId="{2D3AC4F2-F3BD-144A-8023-5A20FC74F214}" type="presParOf" srcId="{2295EF8B-0469-4EDE-A1AB-942D709A3FF5}" destId="{086D09BC-1026-4B90-8727-223295DB2122}" srcOrd="2" destOrd="0" presId="urn:microsoft.com/office/officeart/2005/8/layout/vList6"/>
    <dgm:cxn modelId="{6C8B08BC-2B2D-C94F-89B2-B9DC25AF554E}" type="presParOf" srcId="{086D09BC-1026-4B90-8727-223295DB2122}" destId="{991C19E4-C290-406A-9A17-41EC5765719E}" srcOrd="0" destOrd="0" presId="urn:microsoft.com/office/officeart/2005/8/layout/vList6"/>
    <dgm:cxn modelId="{E6CE7F95-CCB9-C54A-A17B-BA3F9A924084}" type="presParOf" srcId="{086D09BC-1026-4B90-8727-223295DB2122}" destId="{7498FF76-8B65-468B-827D-4493935C5A3E}" srcOrd="1" destOrd="0" presId="urn:microsoft.com/office/officeart/2005/8/layout/vList6"/>
    <dgm:cxn modelId="{CDDE94A6-4B7E-4D68-A400-3F32BFD351E0}" type="presParOf" srcId="{2295EF8B-0469-4EDE-A1AB-942D709A3FF5}" destId="{E715A426-E46A-44DB-9F8C-C2B1A4F7EFD0}" srcOrd="3" destOrd="0" presId="urn:microsoft.com/office/officeart/2005/8/layout/vList6"/>
    <dgm:cxn modelId="{6D217A1F-FCBA-4531-8745-795A19B9E364}" type="presParOf" srcId="{2295EF8B-0469-4EDE-A1AB-942D709A3FF5}" destId="{98F62D7D-C967-4EF0-A228-17FFAFAEFBEE}" srcOrd="4" destOrd="0" presId="urn:microsoft.com/office/officeart/2005/8/layout/vList6"/>
    <dgm:cxn modelId="{0E37EDCA-B450-49C9-870C-404E5053A4AC}" type="presParOf" srcId="{98F62D7D-C967-4EF0-A228-17FFAFAEFBEE}" destId="{6CF1E50F-2467-4A7D-A877-548C4A3F71DB}" srcOrd="0" destOrd="0" presId="urn:microsoft.com/office/officeart/2005/8/layout/vList6"/>
    <dgm:cxn modelId="{3D886276-6DB8-49A8-8642-269C270A189B}" type="presParOf" srcId="{98F62D7D-C967-4EF0-A228-17FFAFAEFBEE}" destId="{EA1F987A-C496-48FF-AB98-83626582AA3A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35D582-1976-4FD7-A859-284CB48A2F58}">
      <dsp:nvSpPr>
        <dsp:cNvPr id="0" name=""/>
        <dsp:cNvSpPr/>
      </dsp:nvSpPr>
      <dsp:spPr>
        <a:xfrm>
          <a:off x="2342524" y="0"/>
          <a:ext cx="3513787" cy="950034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700" kern="1200" dirty="0" smtClean="0"/>
            <a:t>But et destinataires</a:t>
          </a:r>
          <a:endParaRPr lang="fr-F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700" kern="1200" dirty="0" smtClean="0"/>
            <a:t>Fonctionnalités utilisateurs finaux</a:t>
          </a:r>
          <a:endParaRPr lang="fr-FR" sz="1700" kern="1200" dirty="0"/>
        </a:p>
      </dsp:txBody>
      <dsp:txXfrm>
        <a:off x="2342524" y="118754"/>
        <a:ext cx="3157524" cy="712526"/>
      </dsp:txXfrm>
    </dsp:sp>
    <dsp:sp modelId="{05F84856-DAAE-40C5-B174-C7D46924E499}">
      <dsp:nvSpPr>
        <dsp:cNvPr id="0" name=""/>
        <dsp:cNvSpPr/>
      </dsp:nvSpPr>
      <dsp:spPr>
        <a:xfrm>
          <a:off x="0" y="0"/>
          <a:ext cx="2342524" cy="95003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600" kern="1200" dirty="0" smtClean="0"/>
            <a:t>Etude de besoin</a:t>
          </a:r>
          <a:endParaRPr lang="fr-FR" sz="2600" kern="1200" dirty="0"/>
        </a:p>
      </dsp:txBody>
      <dsp:txXfrm>
        <a:off x="46377" y="46377"/>
        <a:ext cx="2249770" cy="857280"/>
      </dsp:txXfrm>
    </dsp:sp>
    <dsp:sp modelId="{7498FF76-8B65-468B-827D-4493935C5A3E}">
      <dsp:nvSpPr>
        <dsp:cNvPr id="0" name=""/>
        <dsp:cNvSpPr/>
      </dsp:nvSpPr>
      <dsp:spPr>
        <a:xfrm>
          <a:off x="2304247" y="1008110"/>
          <a:ext cx="3513787" cy="950034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700" kern="1200" dirty="0" smtClean="0"/>
            <a:t>Environnement de réalisation</a:t>
          </a:r>
          <a:endParaRPr lang="fr-F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700" kern="1200" dirty="0" smtClean="0"/>
            <a:t>Description des tests</a:t>
          </a:r>
          <a:endParaRPr lang="fr-FR" sz="1700" kern="1200" dirty="0"/>
        </a:p>
      </dsp:txBody>
      <dsp:txXfrm>
        <a:off x="2304247" y="1126864"/>
        <a:ext cx="3157524" cy="712526"/>
      </dsp:txXfrm>
    </dsp:sp>
    <dsp:sp modelId="{991C19E4-C290-406A-9A17-41EC5765719E}">
      <dsp:nvSpPr>
        <dsp:cNvPr id="0" name=""/>
        <dsp:cNvSpPr/>
      </dsp:nvSpPr>
      <dsp:spPr>
        <a:xfrm>
          <a:off x="0" y="1045038"/>
          <a:ext cx="2342524" cy="950034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600" kern="1200" dirty="0" smtClean="0"/>
            <a:t>Etude technique</a:t>
          </a:r>
          <a:endParaRPr lang="fr-FR" sz="2600" kern="1200" dirty="0"/>
        </a:p>
      </dsp:txBody>
      <dsp:txXfrm>
        <a:off x="46377" y="1091415"/>
        <a:ext cx="2249770" cy="857280"/>
      </dsp:txXfrm>
    </dsp:sp>
    <dsp:sp modelId="{EA1F987A-C496-48FF-AB98-83626582AA3A}">
      <dsp:nvSpPr>
        <dsp:cNvPr id="0" name=""/>
        <dsp:cNvSpPr/>
      </dsp:nvSpPr>
      <dsp:spPr>
        <a:xfrm>
          <a:off x="2342524" y="2090077"/>
          <a:ext cx="3513787" cy="950034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err="1" smtClean="0"/>
            <a:t>Equipe</a:t>
          </a:r>
          <a:endParaRPr lang="fr-FR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err="1" smtClean="0"/>
            <a:t>Organisation</a:t>
          </a:r>
          <a:endParaRPr lang="fr-FR" sz="1700" kern="1200" dirty="0"/>
        </a:p>
      </dsp:txBody>
      <dsp:txXfrm>
        <a:off x="2342524" y="2208831"/>
        <a:ext cx="3157524" cy="712526"/>
      </dsp:txXfrm>
    </dsp:sp>
    <dsp:sp modelId="{6CF1E50F-2467-4A7D-A877-548C4A3F71DB}">
      <dsp:nvSpPr>
        <dsp:cNvPr id="0" name=""/>
        <dsp:cNvSpPr/>
      </dsp:nvSpPr>
      <dsp:spPr>
        <a:xfrm>
          <a:off x="0" y="2090077"/>
          <a:ext cx="2342524" cy="95003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/>
            <a:t>Méthodologie</a:t>
          </a:r>
          <a:r>
            <a:rPr lang="en-US" sz="2600" kern="1200" dirty="0" smtClean="0"/>
            <a:t> </a:t>
          </a:r>
          <a:r>
            <a:rPr lang="en-US" sz="2600" kern="1200" dirty="0" err="1" smtClean="0"/>
            <a:t>Projet</a:t>
          </a:r>
          <a:endParaRPr lang="fr-FR" sz="2600" kern="1200" dirty="0"/>
        </a:p>
      </dsp:txBody>
      <dsp:txXfrm>
        <a:off x="46377" y="2136454"/>
        <a:ext cx="2249770" cy="857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F9FDA-FEDA-4C10-85C7-82A82139E8FB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D5825-3E74-43C2-80A4-106531714F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02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645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613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Expliquer ce qu‘on attend d un CDC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613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D5825-3E74-43C2-80A4-106531714FE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455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9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9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4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9DBE5-EBF9-4639-90DC-770987F475C1}" type="datetimeFigureOut">
              <a:rPr lang="fr-FR" smtClean="0"/>
              <a:pPr/>
              <a:t>15/01/2015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1100C-1382-4518-A19A-927E319C583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page_presentation-sans_sloga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3568" y="2283718"/>
            <a:ext cx="7772400" cy="110251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La documentation</a:t>
            </a:r>
            <a:br>
              <a:rPr lang="fr-FR" dirty="0" smtClean="0"/>
            </a:br>
            <a:r>
              <a:rPr lang="fr-FR" sz="3100" dirty="0" smtClean="0"/>
              <a:t>Cours EIP 2017</a:t>
            </a:r>
            <a:endParaRPr lang="fr-FR" sz="3100" dirty="0"/>
          </a:p>
        </p:txBody>
      </p:sp>
      <p:pic>
        <p:nvPicPr>
          <p:cNvPr id="6" name="Shape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6096" y="339502"/>
            <a:ext cx="2808312" cy="1433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Agenda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L’EIP – Rappel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La documentation - fond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La documentation - forme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L’étude de l’existant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Le WBS</a:t>
            </a:r>
          </a:p>
          <a:p>
            <a:pPr>
              <a:buSzPct val="50000"/>
              <a:buBlip>
                <a:blip r:embed="rId3"/>
              </a:buBlip>
            </a:pPr>
            <a:r>
              <a:rPr lang="en-US" dirty="0" smtClean="0"/>
              <a:t>Le Cahier Des Charges</a:t>
            </a: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Le GANTT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Le document de Vision</a:t>
            </a:r>
          </a:p>
          <a:p>
            <a:pPr>
              <a:buSzPct val="50000"/>
              <a:buBlip>
                <a:blip r:embed="rId3"/>
              </a:buBlip>
            </a:pPr>
            <a:r>
              <a:rPr lang="en-US" dirty="0" smtClean="0"/>
              <a:t>Le Scope Baseline</a:t>
            </a: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Dates clés</a:t>
            </a:r>
          </a:p>
        </p:txBody>
      </p:sp>
      <p:pic>
        <p:nvPicPr>
          <p:cNvPr id="11" name="Image 10" descr="sommair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84168" y="1779662"/>
            <a:ext cx="2304256" cy="199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EIP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50000"/>
              <a:buBlip>
                <a:blip r:embed="rId3"/>
              </a:buBlip>
            </a:pP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2 ans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Interlocuteurs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Approche du milieu professionnel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Différence</a:t>
            </a:r>
            <a:r>
              <a:rPr lang="en-US" dirty="0" smtClean="0"/>
              <a:t> </a:t>
            </a:r>
            <a:r>
              <a:rPr lang="en-US" dirty="0" err="1"/>
              <a:t>S</a:t>
            </a:r>
            <a:r>
              <a:rPr lang="en-US" dirty="0" err="1" smtClean="0"/>
              <a:t>uivi</a:t>
            </a:r>
            <a:r>
              <a:rPr lang="en-US" dirty="0" smtClean="0"/>
              <a:t> et </a:t>
            </a:r>
            <a:r>
              <a:rPr lang="en-US" dirty="0" err="1" smtClean="0"/>
              <a:t>Bilan</a:t>
            </a:r>
            <a:r>
              <a:rPr lang="en-US" dirty="0" smtClean="0"/>
              <a:t>/</a:t>
            </a:r>
            <a:r>
              <a:rPr lang="en-US" dirty="0" err="1" smtClean="0"/>
              <a:t>Soutenance</a:t>
            </a: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endParaRPr lang="fr-FR" dirty="0" smtClean="0"/>
          </a:p>
        </p:txBody>
      </p:sp>
      <p:pic>
        <p:nvPicPr>
          <p:cNvPr id="5" name="Picture 4" descr="logo_eip(1)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1491630"/>
            <a:ext cx="2951851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2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La documentation - fond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Plusieurs types</a:t>
            </a:r>
          </a:p>
          <a:p>
            <a:pPr lvl="1">
              <a:buSzPct val="100000"/>
              <a:buBlip>
                <a:blip r:embed="rId4"/>
              </a:buBlip>
            </a:pPr>
            <a:r>
              <a:rPr lang="fr-FR" dirty="0" smtClean="0"/>
              <a:t>	Suivi de projet</a:t>
            </a:r>
          </a:p>
          <a:p>
            <a:pPr lvl="1">
              <a:buSzPct val="100000"/>
              <a:buBlip>
                <a:blip r:embed="rId4"/>
              </a:buBlip>
            </a:pPr>
            <a:r>
              <a:rPr lang="fr-FR" dirty="0" smtClean="0"/>
              <a:t>	Technique (comprendre le projet)</a:t>
            </a:r>
          </a:p>
          <a:p>
            <a:pPr lvl="1">
              <a:buSzPct val="100000"/>
              <a:buBlip>
                <a:blip r:embed="rId4"/>
              </a:buBlip>
            </a:pPr>
            <a:r>
              <a:rPr lang="fr-FR" dirty="0" smtClean="0"/>
              <a:t>	Veille technologique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Formaliser le projet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Visible</a:t>
            </a:r>
          </a:p>
        </p:txBody>
      </p:sp>
      <p:pic>
        <p:nvPicPr>
          <p:cNvPr id="19" name="Image 18" descr="moteur-recherch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16216" y="1635646"/>
            <a:ext cx="187220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La documentation - forme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Orthographe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Cartouche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Résumé du document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Rappel du projet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/>
              <a:t>SVN de </a:t>
            </a:r>
            <a:r>
              <a:rPr lang="fr-FR" dirty="0" smtClean="0"/>
              <a:t>rendu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Nom correct</a:t>
            </a:r>
          </a:p>
          <a:p>
            <a:pPr>
              <a:buNone/>
            </a:pPr>
            <a:endParaRPr lang="fr-FR" dirty="0" smtClean="0"/>
          </a:p>
        </p:txBody>
      </p:sp>
      <p:pic>
        <p:nvPicPr>
          <p:cNvPr id="10" name="Image 9" descr="blog_post_test_write_document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72200" y="1779662"/>
            <a:ext cx="201622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Etude de l’existant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Etat de l’art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Projets</a:t>
            </a:r>
            <a:r>
              <a:rPr lang="en-US" dirty="0" smtClean="0"/>
              <a:t> </a:t>
            </a:r>
            <a:r>
              <a:rPr lang="fr-FR" dirty="0" smtClean="0"/>
              <a:t>similaires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/>
              <a:t>Pas forcément technique</a:t>
            </a: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Avantages et inconvénients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Positionnement</a:t>
            </a:r>
          </a:p>
          <a:p>
            <a:endParaRPr lang="fr-FR" dirty="0" smtClean="0"/>
          </a:p>
        </p:txBody>
      </p:sp>
      <p:pic>
        <p:nvPicPr>
          <p:cNvPr id="2051" name="Picture 3" descr="C:\Users\labeip\Desktop\téléchargemen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419622"/>
            <a:ext cx="2527548" cy="263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99761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 </a:t>
            </a:r>
            <a:r>
              <a:rPr lang="fr-FR" dirty="0" err="1"/>
              <a:t>Work</a:t>
            </a:r>
            <a:r>
              <a:rPr lang="fr-FR" dirty="0"/>
              <a:t> Breakdown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Structure(WBS)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SzPct val="50000"/>
              <a:buBlip>
                <a:blip r:embed="rId3"/>
              </a:buBlip>
            </a:pP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/>
              <a:t>Préparation</a:t>
            </a:r>
            <a:r>
              <a:rPr lang="en-US" dirty="0"/>
              <a:t> au </a:t>
            </a:r>
            <a:r>
              <a:rPr lang="en-US" dirty="0" err="1" smtClean="0"/>
              <a:t>GanTT</a:t>
            </a: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Hypothèses</a:t>
            </a:r>
            <a:r>
              <a:rPr lang="en-US" dirty="0" smtClean="0"/>
              <a:t> et </a:t>
            </a:r>
            <a:r>
              <a:rPr lang="fr-FR" dirty="0" smtClean="0"/>
              <a:t>contraintes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Découpage fonctionnel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Fonctionnalités hiérarchisées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Dictionnaire</a:t>
            </a:r>
            <a:r>
              <a:rPr lang="en-US" dirty="0" smtClean="0"/>
              <a:t> du WBS</a:t>
            </a:r>
            <a:endParaRPr lang="fr-FR" dirty="0" smtClean="0"/>
          </a:p>
        </p:txBody>
      </p:sp>
      <p:pic>
        <p:nvPicPr>
          <p:cNvPr id="1026" name="Picture 2" descr="C:\Users\LabEIP\Desktop\picto47_2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164" y="2852077"/>
            <a:ext cx="18002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01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Cahier des charges</a:t>
            </a:r>
            <a:endParaRPr lang="fr-FR" dirty="0"/>
          </a:p>
        </p:txBody>
      </p:sp>
      <p:graphicFrame>
        <p:nvGraphicFramePr>
          <p:cNvPr id="12" name="Diagramme 11"/>
          <p:cNvGraphicFramePr/>
          <p:nvPr>
            <p:extLst>
              <p:ext uri="{D42A27DB-BD31-4B8C-83A1-F6EECF244321}">
                <p14:modId xmlns:p14="http://schemas.microsoft.com/office/powerpoint/2010/main" val="1964425228"/>
              </p:ext>
            </p:extLst>
          </p:nvPr>
        </p:nvGraphicFramePr>
        <p:xfrm>
          <a:off x="755576" y="1275606"/>
          <a:ext cx="5856312" cy="3040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à coins arrondis 13"/>
          <p:cNvSpPr/>
          <p:nvPr/>
        </p:nvSpPr>
        <p:spPr>
          <a:xfrm>
            <a:off x="7452320" y="1131590"/>
            <a:ext cx="1440160" cy="3600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noAutofit/>
          </a:bodyPr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Cahier des charges</a:t>
            </a:r>
            <a:endParaRPr lang="fr-FR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Cahier des charges (CDC)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50000"/>
              <a:buBlip>
                <a:blip r:embed="rId3"/>
              </a:buBlip>
            </a:pP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Document contractuel du projet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Changement en accord avec équipe EIP</a:t>
            </a:r>
          </a:p>
        </p:txBody>
      </p:sp>
      <p:pic>
        <p:nvPicPr>
          <p:cNvPr id="1026" name="Picture 2" descr="C:\Users\LabEIP\Desktop\picto47_2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164" y="2852077"/>
            <a:ext cx="18002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10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GANTT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50000"/>
              <a:buBlip>
                <a:blip r:embed="rId3"/>
              </a:buBlip>
            </a:pP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 err="1" smtClean="0"/>
              <a:t>Timeline</a:t>
            </a:r>
            <a:r>
              <a:rPr lang="fr-FR" dirty="0" smtClean="0"/>
              <a:t> de votre projet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Jalons</a:t>
            </a:r>
            <a:r>
              <a:rPr lang="en-US" dirty="0" smtClean="0"/>
              <a:t> et </a:t>
            </a:r>
            <a:r>
              <a:rPr lang="fr-FR" dirty="0" smtClean="0"/>
              <a:t>lotissement</a:t>
            </a:r>
          </a:p>
          <a:p>
            <a:pPr>
              <a:buSzPct val="50000"/>
              <a:buBlip>
                <a:blip r:embed="rId3"/>
              </a:buBlip>
            </a:pPr>
            <a:r>
              <a:rPr lang="en-US" dirty="0" smtClean="0"/>
              <a:t>Charge (JH) / </a:t>
            </a:r>
            <a:r>
              <a:rPr lang="fr-FR" dirty="0" smtClean="0"/>
              <a:t>Délais</a:t>
            </a:r>
            <a:r>
              <a:rPr lang="en-US" dirty="0" smtClean="0"/>
              <a:t> (J)</a:t>
            </a:r>
            <a:endParaRPr lang="fr-FR" dirty="0" smtClean="0"/>
          </a:p>
        </p:txBody>
      </p:sp>
      <p:pic>
        <p:nvPicPr>
          <p:cNvPr id="15" name="Image 14" descr="diagramme-de-gantt-plan-de-projet-thumb1756131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24127" y="2139702"/>
            <a:ext cx="3264363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vision-320x24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1131590"/>
            <a:ext cx="2676128" cy="2007096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Document de Vision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SzPct val="50000"/>
              <a:buBlip>
                <a:blip r:embed="rId4"/>
              </a:buBlip>
            </a:pPr>
            <a:endParaRPr lang="fr-FR" dirty="0" smtClean="0"/>
          </a:p>
          <a:p>
            <a:pPr>
              <a:buSzPct val="50000"/>
              <a:buBlip>
                <a:blip r:embed="rId4"/>
              </a:buBlip>
            </a:pPr>
            <a:r>
              <a:rPr lang="fr-FR" dirty="0" smtClean="0"/>
              <a:t>Besoins du projet</a:t>
            </a:r>
          </a:p>
          <a:p>
            <a:pPr>
              <a:buSzPct val="50000"/>
              <a:buBlip>
                <a:blip r:embed="rId4"/>
              </a:buBlip>
            </a:pPr>
            <a:r>
              <a:rPr lang="fr-FR" dirty="0" smtClean="0"/>
              <a:t>Architecture</a:t>
            </a:r>
          </a:p>
          <a:p>
            <a:pPr>
              <a:buSzPct val="50000"/>
              <a:buBlip>
                <a:blip r:embed="rId4"/>
              </a:buBlip>
            </a:pPr>
            <a:r>
              <a:rPr lang="fr-FR" dirty="0" smtClean="0"/>
              <a:t>Interactions des composants </a:t>
            </a:r>
          </a:p>
          <a:p>
            <a:pPr>
              <a:buSzPct val="50000"/>
              <a:buBlip>
                <a:blip r:embed="rId4"/>
              </a:buBlip>
            </a:pPr>
            <a:r>
              <a:rPr lang="fr-FR" dirty="0" smtClean="0"/>
              <a:t>Justification des choix (comparatif)</a:t>
            </a:r>
          </a:p>
          <a:p>
            <a:pPr>
              <a:buSzPct val="50000"/>
              <a:buBlip>
                <a:blip r:embed="rId4"/>
              </a:buBlip>
            </a:pPr>
            <a:r>
              <a:rPr lang="en-US" dirty="0" smtClean="0"/>
              <a:t>Budget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98384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Scope Baseline (SB)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50000"/>
              <a:buBlip>
                <a:blip r:embed="rId3"/>
              </a:buBlip>
            </a:pPr>
            <a:endParaRPr lang="fr-FR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dirty="0" smtClean="0"/>
              <a:t>WBS</a:t>
            </a:r>
          </a:p>
          <a:p>
            <a:pPr>
              <a:buSzPct val="50000"/>
              <a:buBlip>
                <a:blip r:embed="rId3"/>
              </a:buBlip>
            </a:pPr>
            <a:r>
              <a:rPr lang="en-US" dirty="0" smtClean="0"/>
              <a:t>CDC</a:t>
            </a:r>
          </a:p>
          <a:p>
            <a:pPr>
              <a:buSzPct val="50000"/>
              <a:buBlip>
                <a:blip r:embed="rId3"/>
              </a:buBlip>
            </a:pPr>
            <a:r>
              <a:rPr lang="en-US" dirty="0" smtClean="0"/>
              <a:t>GANTT</a:t>
            </a:r>
            <a:endParaRPr lang="fr-FR" dirty="0" smtClean="0"/>
          </a:p>
        </p:txBody>
      </p:sp>
      <p:pic>
        <p:nvPicPr>
          <p:cNvPr id="1026" name="Picture 2" descr="C:\Users\labeip\Desktop\checklist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707654"/>
            <a:ext cx="2207767" cy="189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/>
          <p:cNvSpPr>
            <a:spLocks noGrp="1"/>
          </p:cNvSpPr>
          <p:nvPr>
            <p:ph idx="1"/>
          </p:nvPr>
        </p:nvSpPr>
        <p:spPr>
          <a:xfrm>
            <a:off x="683568" y="1275606"/>
            <a:ext cx="8229600" cy="3394472"/>
          </a:xfrm>
        </p:spPr>
        <p:txBody>
          <a:bodyPr>
            <a:normAutofit fontScale="70000" lnSpcReduction="20000"/>
          </a:bodyPr>
          <a:lstStyle/>
          <a:p>
            <a:endParaRPr lang="fr-FR" sz="2000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sz="3000" dirty="0" smtClean="0">
                <a:solidFill>
                  <a:srgbClr val="FF0000"/>
                </a:solidFill>
              </a:rPr>
              <a:t>01/02</a:t>
            </a:r>
            <a:r>
              <a:rPr lang="fr-FR" sz="3000" dirty="0" smtClean="0"/>
              <a:t> EDE + 50 mots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sz="3000" dirty="0" smtClean="0">
                <a:solidFill>
                  <a:srgbClr val="FF0000"/>
                </a:solidFill>
              </a:rPr>
              <a:t>15/02</a:t>
            </a:r>
            <a:r>
              <a:rPr lang="fr-FR" sz="3000" dirty="0" smtClean="0"/>
              <a:t> WBS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sz="3000" dirty="0" smtClean="0">
                <a:solidFill>
                  <a:srgbClr val="FF0000"/>
                </a:solidFill>
              </a:rPr>
              <a:t>08/03</a:t>
            </a:r>
            <a:r>
              <a:rPr lang="fr-FR" sz="3000" dirty="0" smtClean="0"/>
              <a:t> CDC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sz="3000" dirty="0" smtClean="0">
                <a:solidFill>
                  <a:srgbClr val="FF0000"/>
                </a:solidFill>
              </a:rPr>
              <a:t>05/04</a:t>
            </a:r>
            <a:r>
              <a:rPr lang="fr-FR" sz="3000" dirty="0" smtClean="0"/>
              <a:t> </a:t>
            </a:r>
            <a:r>
              <a:rPr lang="fr-FR" sz="3000" dirty="0" err="1" smtClean="0"/>
              <a:t>GanTT</a:t>
            </a:r>
            <a:r>
              <a:rPr lang="fr-FR" sz="3000" dirty="0" smtClean="0"/>
              <a:t> (</a:t>
            </a:r>
            <a:r>
              <a:rPr lang="fr-FR" sz="3000" dirty="0" err="1" smtClean="0"/>
              <a:t>GanTT</a:t>
            </a:r>
            <a:r>
              <a:rPr lang="fr-FR" sz="3000" dirty="0" smtClean="0"/>
              <a:t> + WBS2)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sz="3000" dirty="0" smtClean="0">
                <a:solidFill>
                  <a:srgbClr val="FF0000"/>
                </a:solidFill>
              </a:rPr>
              <a:t>26/04</a:t>
            </a:r>
            <a:r>
              <a:rPr lang="fr-FR" sz="3000" dirty="0" smtClean="0"/>
              <a:t> Vision</a:t>
            </a:r>
          </a:p>
          <a:p>
            <a:pPr>
              <a:buSzPct val="50000"/>
              <a:buBlip>
                <a:blip r:embed="rId3"/>
              </a:buBlip>
            </a:pPr>
            <a:r>
              <a:rPr lang="en-US" sz="3000" dirty="0" smtClean="0">
                <a:solidFill>
                  <a:srgbClr val="FF0000"/>
                </a:solidFill>
              </a:rPr>
              <a:t>24/05</a:t>
            </a:r>
            <a:r>
              <a:rPr lang="en-US" sz="3000" dirty="0" smtClean="0"/>
              <a:t> SB (CDC2 + GanTT2 + WBS3)</a:t>
            </a:r>
          </a:p>
          <a:p>
            <a:pPr>
              <a:buSzPct val="50000"/>
              <a:buBlip>
                <a:blip r:embed="rId3"/>
              </a:buBlip>
            </a:pPr>
            <a:r>
              <a:rPr lang="en-US" sz="3000" dirty="0" smtClean="0">
                <a:solidFill>
                  <a:srgbClr val="FF0000"/>
                </a:solidFill>
              </a:rPr>
              <a:t>28/06</a:t>
            </a:r>
            <a:r>
              <a:rPr lang="en-US" sz="3000" dirty="0" smtClean="0"/>
              <a:t> SB2 </a:t>
            </a:r>
            <a:r>
              <a:rPr lang="en-US" sz="3000" dirty="0"/>
              <a:t>(</a:t>
            </a:r>
            <a:r>
              <a:rPr lang="en-US" sz="3000" dirty="0" smtClean="0"/>
              <a:t>CDC3 </a:t>
            </a:r>
            <a:r>
              <a:rPr lang="en-US" sz="3000" dirty="0"/>
              <a:t>+ </a:t>
            </a:r>
            <a:r>
              <a:rPr lang="en-US" sz="3000" dirty="0" smtClean="0"/>
              <a:t>GanTT3 </a:t>
            </a:r>
            <a:r>
              <a:rPr lang="en-US" sz="3000" dirty="0"/>
              <a:t>+ </a:t>
            </a:r>
            <a:r>
              <a:rPr lang="en-US" sz="3000" dirty="0" smtClean="0"/>
              <a:t>WBS2)</a:t>
            </a:r>
            <a:endParaRPr lang="fr-FR" sz="3000" dirty="0" smtClean="0"/>
          </a:p>
          <a:p>
            <a:pPr>
              <a:buSzPct val="50000"/>
              <a:buBlip>
                <a:blip r:embed="rId3"/>
              </a:buBlip>
            </a:pPr>
            <a:r>
              <a:rPr lang="fr-FR" sz="3000" dirty="0" smtClean="0">
                <a:solidFill>
                  <a:srgbClr val="FF0000"/>
                </a:solidFill>
              </a:rPr>
              <a:t>16/08</a:t>
            </a:r>
            <a:r>
              <a:rPr lang="fr-FR" sz="3000" dirty="0" smtClean="0"/>
              <a:t> AA1</a:t>
            </a:r>
          </a:p>
          <a:p>
            <a:pPr>
              <a:buSzPct val="50000"/>
              <a:buBlip>
                <a:blip r:embed="rId3"/>
              </a:buBlip>
            </a:pPr>
            <a:r>
              <a:rPr lang="fr-FR" sz="3000" dirty="0" smtClean="0">
                <a:solidFill>
                  <a:srgbClr val="FF0000"/>
                </a:solidFill>
              </a:rPr>
              <a:t>04/10</a:t>
            </a:r>
            <a:r>
              <a:rPr lang="fr-FR" sz="3000" dirty="0" smtClean="0"/>
              <a:t> Logo + 150M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échéances</a:t>
            </a:r>
            <a:endParaRPr lang="fr-FR" dirty="0"/>
          </a:p>
        </p:txBody>
      </p:sp>
      <p:pic>
        <p:nvPicPr>
          <p:cNvPr id="7" name="Image 6" descr="date clefs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00192" y="1707654"/>
            <a:ext cx="2124765" cy="207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Questions</a:t>
            </a:r>
            <a:endParaRPr lang="fr-FR" dirty="0"/>
          </a:p>
        </p:txBody>
      </p:sp>
      <p:pic>
        <p:nvPicPr>
          <p:cNvPr id="12" name="Image 11" descr="question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9752" y="1419622"/>
            <a:ext cx="3840427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24622</TotalTime>
  <Words>254</Words>
  <Application>Microsoft Office PowerPoint</Application>
  <PresentationFormat>Affichage à l'écran (16:9)</PresentationFormat>
  <Paragraphs>104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La documentation Cours EIP 2017</vt:lpstr>
      <vt:lpstr>Agenda</vt:lpstr>
      <vt:lpstr>EIP</vt:lpstr>
      <vt:lpstr>          La documentation - fond</vt:lpstr>
      <vt:lpstr>          La documentation - forme</vt:lpstr>
      <vt:lpstr>Etude de l’existant</vt:lpstr>
      <vt:lpstr> Work Breakdown  Structure(WBS)</vt:lpstr>
      <vt:lpstr>Cahier des charges</vt:lpstr>
      <vt:lpstr>          Cahier des charges (CDC)</vt:lpstr>
      <vt:lpstr>GANTT</vt:lpstr>
      <vt:lpstr>Document de Vision</vt:lpstr>
      <vt:lpstr>Scope Baseline (SB)</vt:lpstr>
      <vt:lpstr>Les échéances</vt:lpstr>
      <vt:lpstr>Questions</vt:lpstr>
    </vt:vector>
  </TitlesOfParts>
  <Company>IONIS Education 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Sarah Fitoussi</dc:creator>
  <cp:lastModifiedBy>labeip</cp:lastModifiedBy>
  <cp:revision>89</cp:revision>
  <dcterms:created xsi:type="dcterms:W3CDTF">2011-09-22T12:37:21Z</dcterms:created>
  <dcterms:modified xsi:type="dcterms:W3CDTF">2015-01-19T15:17:21Z</dcterms:modified>
</cp:coreProperties>
</file>